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2C2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C2C2A"/>
                </a:solidFill>
                <a:latin typeface="Calibri"/>
              </a:rPr>
              <a:t>GDP per capita, 2019–2021 (US$)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Argentina</c:v>
                </c:pt>
              </c:strCache>
            </c:strRef>
          </c:tx>
          <c:spPr>
            <a:solidFill>
              <a:srgbClr val="D85A30"/>
            </a:solidFill>
            <a:ln w="28575" cap="flat">
              <a:solidFill>
                <a:srgbClr val="D85A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85A30"/>
              </a:solidFill>
              <a:ln w="9525" cap="flat">
                <a:solidFill>
                  <a:srgbClr val="D85A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9956</c:v>
                </c:pt>
                <c:pt idx="1">
                  <c:v>8536</c:v>
                </c:pt>
                <c:pt idx="2">
                  <c:v>10738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Brazil</c:v>
                </c:pt>
              </c:strCache>
            </c:strRef>
          </c:tx>
          <c:spPr>
            <a:solidFill>
              <a:srgbClr val="534AB7"/>
            </a:solidFill>
            <a:ln w="28575" cap="flat">
              <a:solidFill>
                <a:srgbClr val="534A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34AB7"/>
              </a:solidFill>
              <a:ln w="9525" cap="flat">
                <a:solidFill>
                  <a:srgbClr val="534A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9030</c:v>
                </c:pt>
                <c:pt idx="1">
                  <c:v>7074</c:v>
                </c:pt>
                <c:pt idx="2">
                  <c:v>7973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Chile</c:v>
                </c:pt>
              </c:strCache>
            </c:strRef>
          </c:tx>
          <c:spPr>
            <a:solidFill>
              <a:srgbClr val="0F6E56"/>
            </a:solidFill>
            <a:ln w="28575" cap="flat">
              <a:solidFill>
                <a:srgbClr val="0F6E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6E56"/>
              </a:solidFill>
              <a:ln w="9525" cap="flat">
                <a:solidFill>
                  <a:srgbClr val="0F6E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14497</c:v>
                </c:pt>
                <c:pt idx="1">
                  <c:v>13118</c:v>
                </c:pt>
                <c:pt idx="2">
                  <c:v>16216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Colombia</c:v>
                </c:pt>
              </c:strCache>
            </c:strRef>
          </c:tx>
          <c:spPr>
            <a:solidFill>
              <a:srgbClr val="185FA5"/>
            </a:solidFill>
            <a:ln w="28575" cap="flat">
              <a:solidFill>
                <a:srgbClr val="185F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85FA5"/>
              </a:solidFill>
              <a:ln w="9525" cap="flat">
                <a:solidFill>
                  <a:srgbClr val="185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6473</c:v>
                </c:pt>
                <c:pt idx="1">
                  <c:v>5340</c:v>
                </c:pt>
                <c:pt idx="2">
                  <c:v>6223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Mexico</c:v>
                </c:pt>
              </c:strCache>
            </c:strRef>
          </c:tx>
          <c:spPr>
            <a:solidFill>
              <a:srgbClr val="BA7517"/>
            </a:solidFill>
            <a:ln w="28575" cap="flat">
              <a:solidFill>
                <a:srgbClr val="BA75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BA7517"/>
              </a:solidFill>
              <a:ln w="9525" cap="flat">
                <a:solidFill>
                  <a:srgbClr val="BA75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10370</c:v>
                </c:pt>
                <c:pt idx="1">
                  <c:v>8841</c:v>
                </c:pt>
                <c:pt idx="2">
                  <c:v>10314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Peru</c:v>
                </c:pt>
              </c:strCache>
            </c:strRef>
          </c:tx>
          <c:spPr>
            <a:solidFill>
              <a:srgbClr val="3B6D11"/>
            </a:solidFill>
            <a:ln w="28575" cap="flat">
              <a:solidFill>
                <a:srgbClr val="3B6D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B6D11"/>
              </a:solidFill>
              <a:ln w="9525" cap="flat">
                <a:solidFill>
                  <a:srgbClr val="3B6D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7037</c:v>
                </c:pt>
                <c:pt idx="1">
                  <c:v>6133</c:v>
                </c:pt>
                <c:pt idx="2">
                  <c:v>6829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987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5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9878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98781"/>
                    </a:solidFill>
                    <a:latin typeface="Arial"/>
                  </a:rPr>
                  <a:t>US$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987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2514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2C2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C2C2A"/>
                </a:solidFill>
                <a:latin typeface="Calibri"/>
              </a:rPr>
              <a:t>Argentina: annual inflation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Argentina inflation (%)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34.3</c:v>
                </c:pt>
                <c:pt idx="1">
                  <c:v>53.5</c:v>
                </c:pt>
                <c:pt idx="2">
                  <c:v>42</c:v>
                </c:pt>
                <c:pt idx="3">
                  <c:v>48.4</c:v>
                </c:pt>
                <c:pt idx="4">
                  <c:v>72.4</c:v>
                </c:pt>
                <c:pt idx="5">
                  <c:v>133.5</c:v>
                </c:pt>
                <c:pt idx="6">
                  <c:v>219.9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C2C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9878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5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987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i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6E56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24">
              <a:alpha val="2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STONES FOUNDATION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 &amp; Digital Innovation Lab · LATAM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9875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Development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Latin America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D8E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economic growth, resilience, and social development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D8E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six Latin American economies, 2014–2024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31750">
            <a:solidFill>
              <a:srgbClr val="D85A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Manar Mohammed  ·  Volunteer Data Analyst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C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Open Data  ·  2014–2024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058400" y="-1097280"/>
            <a:ext cx="3840480" cy="3840480"/>
          </a:xfrm>
          <a:prstGeom prst="ellipse">
            <a:avLst/>
          </a:prstGeom>
          <a:solidFill>
            <a:srgbClr val="13816A"/>
          </a:solidFill>
          <a:ln/>
        </p:spPr>
      </p:sp>
      <p:sp>
        <p:nvSpPr>
          <p:cNvPr id="13" name="Shape 10"/>
          <p:cNvSpPr/>
          <p:nvPr/>
        </p:nvSpPr>
        <p:spPr>
          <a:xfrm>
            <a:off x="11064240" y="5120640"/>
            <a:ext cx="2377440" cy="2377440"/>
          </a:xfrm>
          <a:prstGeom prst="ellipse">
            <a:avLst/>
          </a:prstGeom>
          <a:solidFill>
            <a:srgbClr val="0C5C4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94560" y="195681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 &amp; 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analysis, and what it does (and doesn't) cover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926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94560" y="305409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34290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indicators, six countries, five-phase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0233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94560" y="415137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45262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growth, crisis, and resilience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1206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85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194560" y="5248656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Next Steps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56235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complete, and what comes next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STONES FOUNDATION  ·  APPLIED DATA &amp; DIGITAL INNOVATION LAB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309360" cy="42976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48840"/>
            <a:ext cx="5577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analyze the key factors influencing economic development in Latin America through a data-driven approach, identifying meaningful patterns across economic and social indicators to support evidence-based decision-making.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178040" y="1783080"/>
            <a:ext cx="4343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1783080"/>
            <a:ext cx="73152" cy="196596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7452360" y="1984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2404872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analysis, trend detection, cross-country comparison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78040" y="4023360"/>
            <a:ext cx="43434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4023360"/>
            <a:ext cx="73152" cy="196596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4224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4645152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claims, predictive modeling, policy prescriptions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STONES FOUNDATION  ·  APPLIED DATA &amp; DIGITAL INNOVATION LAB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93392"/>
            <a:ext cx="914400" cy="0"/>
          </a:xfrm>
          <a:prstGeom prst="line">
            <a:avLst/>
          </a:prstGeom>
          <a:noFill/>
          <a:ln w="31750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848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47872" y="1993392"/>
            <a:ext cx="914400" cy="0"/>
          </a:xfrm>
          <a:prstGeom prst="line">
            <a:avLst/>
          </a:prstGeom>
          <a:noFill/>
          <a:ln w="31750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848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2900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17830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99632" y="1993392"/>
            <a:ext cx="914400" cy="0"/>
          </a:xfrm>
          <a:prstGeom prst="line">
            <a:avLst/>
          </a:prstGeom>
          <a:noFill/>
          <a:ln w="3175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0848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08076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(2014–2024)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95360" y="17830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51392" y="1993392"/>
            <a:ext cx="914400" cy="0"/>
          </a:xfrm>
          <a:prstGeom prst="line">
            <a:avLst/>
          </a:prstGeom>
          <a:noFill/>
          <a:ln w="3175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20848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792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73252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Open Data: World Development Indicators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available, internationally recognized indicators covering economic growth, labor markets, prices, health, poverty, investment, and connectivity.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D85A3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68880" y="457200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534AB7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4572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457200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0F6E56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4572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457200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85FA5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4572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55280" y="457200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BA7517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4572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784080" y="457200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3B6D11"/>
          </a:solidFill>
          <a:ln/>
        </p:spPr>
      </p:sp>
      <p:sp>
        <p:nvSpPr>
          <p:cNvPr id="33" name="Text 31"/>
          <p:cNvSpPr/>
          <p:nvPr/>
        </p:nvSpPr>
        <p:spPr>
          <a:xfrm>
            <a:off x="9784080" y="4572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Indicators: GDP per capita · GDP growth · Unemployment · Inflation · Life expectancy · School enrollment · Poverty rate · FDI · Population · Urban population · Internet access · Electricity access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STONES FOUNDATION  ·  APPLIED DATA &amp; DIGITAL INNOVATION LAB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five-phase analysis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36776" y="4526280"/>
            <a:ext cx="8887968" cy="0"/>
          </a:xfrm>
          <a:prstGeom prst="line">
            <a:avLst/>
          </a:prstGeom>
          <a:noFill/>
          <a:ln w="25400">
            <a:solidFill>
              <a:srgbClr val="D8D6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199339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67004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32461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&amp; scope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554480" y="4443984"/>
            <a:ext cx="164592" cy="16459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Shape 8"/>
          <p:cNvSpPr/>
          <p:nvPr/>
        </p:nvSpPr>
        <p:spPr>
          <a:xfrm>
            <a:off x="2862072" y="2103120"/>
            <a:ext cx="199339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26664" y="267004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26664" y="32461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data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76472" y="4443984"/>
            <a:ext cx="164592" cy="16459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84064" y="2103120"/>
            <a:ext cx="199339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8656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48656" y="267004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EDA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48656" y="32461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reshaping, analysis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98464" y="4443984"/>
            <a:ext cx="164592" cy="16459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06056" y="2103120"/>
            <a:ext cx="199339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0648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267004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70648" y="32461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0456" y="4443984"/>
            <a:ext cx="164592" cy="16459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5" name="Shape 23"/>
          <p:cNvSpPr/>
          <p:nvPr/>
        </p:nvSpPr>
        <p:spPr>
          <a:xfrm>
            <a:off x="9528048" y="2103120"/>
            <a:ext cx="1993392" cy="1920240"/>
          </a:xfrm>
          <a:prstGeom prst="roundRect">
            <a:avLst>
              <a:gd name="adj" fmla="val 3333"/>
            </a:avLst>
          </a:prstGeom>
          <a:solidFill>
            <a:srgbClr val="0F6E56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22860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92640" y="267004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92640" y="324612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8E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methodology,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8E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442448" y="4443984"/>
            <a:ext cx="164592" cy="164592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timeline: ~5 weeks, adjusted based on data availability and analysis depth.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STONES FOUNDATION  ·  APPLIED DATA &amp; DIGITAL INNOVATION LAB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KEY FINDING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 was a compounding, region-wide crisis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countries saw GDP per capita fall and unemployment spike in the same year, consistent with the global economic impact of COVID-19.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6263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78040" y="2057400"/>
            <a:ext cx="4343400" cy="1691640"/>
          </a:xfrm>
          <a:prstGeom prst="roundRect">
            <a:avLst>
              <a:gd name="adj" fmla="val 4324"/>
            </a:avLst>
          </a:prstGeom>
          <a:solidFill>
            <a:srgbClr val="0F6E56"/>
          </a:solidFill>
          <a:ln/>
        </p:spPr>
      </p:sp>
      <p:sp>
        <p:nvSpPr>
          <p:cNvPr id="7" name="Text 4"/>
          <p:cNvSpPr/>
          <p:nvPr/>
        </p:nvSpPr>
        <p:spPr>
          <a:xfrm>
            <a:off x="7406640" y="221284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-9.5% to -21.7%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40664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8E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decline range across all six countries, 2019→2020 (Chile least affected, Brazil most affected)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178040" y="3931920"/>
            <a:ext cx="4343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0" y="40873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+5.7 pts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406640" y="4709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Colombia's unemployment rise in 2020, to 15.98% (the highest in the dataset), coinciding with its lowest GDP per capita value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STONES FOUNDATION  ·  APPLIED DATA &amp; DIGITAL INNOVATION LAB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KEY FINDING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Argentina's inflation is accelerating, not just rising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increases have grown sharply since 2021, reaching 219.9% in 2024, over 15x the regional median.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057400"/>
            <a:ext cx="3703320" cy="4023360"/>
          </a:xfrm>
          <a:prstGeom prst="roundRect">
            <a:avLst>
              <a:gd name="adj" fmla="val 1975"/>
            </a:avLst>
          </a:prstGeom>
          <a:solidFill>
            <a:srgbClr val="2C2C2A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26974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Argentina's inflation trajectory aligns with the highest GDP volatility observed in the dataset (STD ≈ $1,969 vs. Peru's $738), suggesting inflation as a likely driver of its broader economic instability, not an isolated event.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46720" y="4572000"/>
            <a:ext cx="3291840" cy="0"/>
          </a:xfrm>
          <a:prstGeom prst="line">
            <a:avLst/>
          </a:prstGeom>
          <a:noFill/>
          <a:ln w="12700">
            <a:solidFill>
              <a:srgbClr val="5A5A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0" y="4800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AFA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pre-2018 inflation data for Argentina was unavailable in the World Bank dataset.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STONES FOUNDATION  ·  APPLIED DATA &amp; DIGITAL INNOVATION LAB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KEY FINDING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Chile leads consistently across every dimension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strength, investor confidence, health outcomes, and poverty reduction all point to the same country.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23160"/>
            <a:ext cx="201168" cy="20116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3500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GDP per capita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$17,081 (2023), a consistent structural gap over the other five countries throughout 2014-2024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423160"/>
            <a:ext cx="201168" cy="20116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23500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FDI inflow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9.84% of GDP (2014), the strongest investor confidence recorded in the dataset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4572000"/>
            <a:ext cx="201168" cy="20116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44988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poverty rate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50749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 (2022), the lowest national poverty rate among all six countries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42976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4572000"/>
            <a:ext cx="201168" cy="20116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44988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life expectancy drop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50749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-1.45 years during 2019-2021, versus -4.78 in Mexico, the most resilient health outcome in the region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STONES FOUNDATION  ·  APPLIED DATA &amp; DIGITAL INNOVATION LAB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project stands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7E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PLACE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scoping &amp; approved project white paper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data collection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cleaning (12 indicators, 6 countries)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analysis: 16 documented insights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3-page Power BI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E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BUILD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42316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written documentation &amp; methodology report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with reproducible analysis notebook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application (App phase, to be scoped with the team)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STONES FOUNDATION  ·  APPLIED DATA &amp; DIGITAL INNOVATION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it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6E56">
              <a:alpha val="6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E24">
              <a:alpha val="3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credible baseline for evidence-based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decision-making in Latin America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3840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8E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of consistent, comparable data across six economies, ready to inform the next phase of this project.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D85A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937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5532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E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Manar Mohammed  ·  Volunteer Data Analyst  ·  Living Stones Foundation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2026-08-21T07:17:26Z</dcterms:created>
  <dcterms:modified xsi:type="dcterms:W3CDTF">2026-08-21T07:17:26Z</dcterms:modified>
</cp:coreProperties>
</file>